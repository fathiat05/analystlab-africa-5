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1268-FDA1-4217-9267-8AF794E497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83DDD2-811C-467E-BB88-1610B8BECD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1A62FC-5895-4722-89CB-C94BE7D76B2D}"/>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0823340E-04F8-4EB9-8027-A0B4741EF5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357E9-658B-4CF5-82D4-188A4EDFD72B}"/>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1452040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9C3F-6D72-48FA-AD34-370E752034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0C1C63-D140-466E-8C60-7531D920EF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76773D-0F12-4BD1-AFE4-A96F3EFC5861}"/>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73961544-2ADC-4322-8895-99165EEEB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E676B-ACA3-4775-8096-B82954BF4289}"/>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4020160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40B1D-C2ED-458F-A4AA-58C05F084F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90499F-BC7B-43FB-949B-0015C6C203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7AAFA1-6A7C-48D3-87B1-B3A0307B26FA}"/>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4EE0A09F-85BE-48DE-9F15-32825D17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173DF-8DC2-4DC7-AC5F-9B20A95A6316}"/>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2261353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A7577-3772-4DA2-AB7C-09E4ECE520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0E9EE5-C927-46F1-9329-EA08199680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894943-A6E2-40D9-BC30-773D8FEFC4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017E02-D564-442E-9A1A-E9FC6FE38882}"/>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6" name="Footer Placeholder 5">
            <a:extLst>
              <a:ext uri="{FF2B5EF4-FFF2-40B4-BE49-F238E27FC236}">
                <a16:creationId xmlns:a16="http://schemas.microsoft.com/office/drawing/2014/main" id="{6C690D81-3F2E-481A-9F1F-19AFAD8DB9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3FA366-22EB-4475-9631-2B27ADC30E31}"/>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264151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454F2-0824-491F-9300-D20E1FD145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1F9FB4-78C0-47EF-BE4A-8844B680A4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B446F4-9139-4A0C-AD57-1284108EFD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B754C7-96B4-4585-B8D2-867B610A50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BF4C90-7F6D-4EAE-AD3A-68F341AA3E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434339-A2C5-45D8-B22E-2231E1A67F11}"/>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8" name="Footer Placeholder 7">
            <a:extLst>
              <a:ext uri="{FF2B5EF4-FFF2-40B4-BE49-F238E27FC236}">
                <a16:creationId xmlns:a16="http://schemas.microsoft.com/office/drawing/2014/main" id="{3C147541-D0FC-495E-8968-9D0A1E83F9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BA9D58-F343-441A-8872-6BAF3B3C2D40}"/>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168184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3FE1-DEC9-471D-8C88-07BF6500E0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9B0A57-8B23-40C8-AF46-DA119D6DA0C5}"/>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4" name="Footer Placeholder 3">
            <a:extLst>
              <a:ext uri="{FF2B5EF4-FFF2-40B4-BE49-F238E27FC236}">
                <a16:creationId xmlns:a16="http://schemas.microsoft.com/office/drawing/2014/main" id="{6B570BFD-C056-4933-842D-34F254A4E8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1A6D1A-63FB-4E23-9BEE-FA6CA34CABC3}"/>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2766772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C07EEE-02AC-452C-BD0F-BAEFE400D287}"/>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3" name="Footer Placeholder 2">
            <a:extLst>
              <a:ext uri="{FF2B5EF4-FFF2-40B4-BE49-F238E27FC236}">
                <a16:creationId xmlns:a16="http://schemas.microsoft.com/office/drawing/2014/main" id="{CE376E3A-6210-479A-8FBF-5449901811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237949-B865-4747-8F3F-4D11E9260FA6}"/>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224327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131AE-13D6-4517-A2CD-A330440E3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470829-F5A0-44E1-88C4-26C56EFD46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599669-57DE-4048-A128-A5E0B9ABB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20F20-DC3E-434E-8DB7-900597D962F9}"/>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6" name="Footer Placeholder 5">
            <a:extLst>
              <a:ext uri="{FF2B5EF4-FFF2-40B4-BE49-F238E27FC236}">
                <a16:creationId xmlns:a16="http://schemas.microsoft.com/office/drawing/2014/main" id="{CAEF5201-0A42-48B3-AE8B-87230AC6F1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5183A8-9F85-4360-B252-D3749A6ADD3F}"/>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305081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05449-A216-4F36-8B34-E62329AE99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A2FEC0-D18A-4077-ABF5-2EFBE14185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17A618-28AB-4676-862F-3144FDFEB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05F213-167D-4608-AD2B-EBCDB9F2F3C1}"/>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6" name="Footer Placeholder 5">
            <a:extLst>
              <a:ext uri="{FF2B5EF4-FFF2-40B4-BE49-F238E27FC236}">
                <a16:creationId xmlns:a16="http://schemas.microsoft.com/office/drawing/2014/main" id="{1976B6C2-986F-4388-86DE-22894F1CC7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F58620-FC29-4E88-9807-89469C6E1DF7}"/>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2528596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1F1F-F7C0-49F9-9485-CC43CDA885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887EFA-3796-47B3-97FC-DC90925B72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E66AA-B466-4DC2-99FC-991763C37265}"/>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33F430D7-FA45-4830-A86F-C8A0B8C37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B335E-1D4A-458E-8755-521FBD529360}"/>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765167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CACD3F-0380-4CFF-A996-195D63D4CE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235A05-ECEA-472F-8F77-6B733968F6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4E5F2-33D1-4B16-92BE-D879D91EDF33}"/>
              </a:ext>
            </a:extLst>
          </p:cNvPr>
          <p:cNvSpPr>
            <a:spLocks noGrp="1"/>
          </p:cNvSpPr>
          <p:nvPr>
            <p:ph type="dt" sz="half" idx="10"/>
          </p:nvPr>
        </p:nvSpPr>
        <p:spPr/>
        <p:txBody>
          <a:body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A2DE6F96-49E3-475D-93CF-49629EC8BF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31FE4-4170-45B2-8D93-D16533EBC328}"/>
              </a:ext>
            </a:extLst>
          </p:cNvPr>
          <p:cNvSpPr>
            <a:spLocks noGrp="1"/>
          </p:cNvSpPr>
          <p:nvPr>
            <p:ph type="sldNum" sz="quarter" idx="12"/>
          </p:nvPr>
        </p:nvSpPr>
        <p:spPr/>
        <p:txBody>
          <a:bodyPr/>
          <a:lstStyle/>
          <a:p>
            <a:fld id="{414C50C6-0EE3-4930-B7B3-812DFBE431B3}" type="slidenum">
              <a:rPr lang="en-US" smtClean="0"/>
              <a:t>‹#›</a:t>
            </a:fld>
            <a:endParaRPr lang="en-US"/>
          </a:p>
        </p:txBody>
      </p:sp>
    </p:spTree>
    <p:extLst>
      <p:ext uri="{BB962C8B-B14F-4D97-AF65-F5344CB8AC3E}">
        <p14:creationId xmlns:p14="http://schemas.microsoft.com/office/powerpoint/2010/main" val="1170343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C73F42-D36A-4C76-A307-92832F8715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EF2F09-E28E-4A07-AE08-0D43FD8093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CD149E-32AC-465F-9FA6-1817790F7D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5D3FC0-2EB2-4D13-BDE8-E97E3FB30E90}" type="datetimeFigureOut">
              <a:rPr lang="en-US" smtClean="0"/>
              <a:t>6/30/2026</a:t>
            </a:fld>
            <a:endParaRPr lang="en-US"/>
          </a:p>
        </p:txBody>
      </p:sp>
      <p:sp>
        <p:nvSpPr>
          <p:cNvPr id="5" name="Footer Placeholder 4">
            <a:extLst>
              <a:ext uri="{FF2B5EF4-FFF2-40B4-BE49-F238E27FC236}">
                <a16:creationId xmlns:a16="http://schemas.microsoft.com/office/drawing/2014/main" id="{950B4729-382D-4A05-965A-DA7569316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000EDD-D1B5-4D30-8035-56DD6203B6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C50C6-0EE3-4930-B7B3-812DFBE431B3}" type="slidenum">
              <a:rPr lang="en-US" smtClean="0"/>
              <a:t>‹#›</a:t>
            </a:fld>
            <a:endParaRPr lang="en-US"/>
          </a:p>
        </p:txBody>
      </p:sp>
    </p:spTree>
    <p:extLst>
      <p:ext uri="{BB962C8B-B14F-4D97-AF65-F5344CB8AC3E}">
        <p14:creationId xmlns:p14="http://schemas.microsoft.com/office/powerpoint/2010/main" val="3296725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6AE7-37DA-4031-8DF0-0A8372759A66}"/>
              </a:ext>
            </a:extLst>
          </p:cNvPr>
          <p:cNvSpPr>
            <a:spLocks noGrp="1"/>
          </p:cNvSpPr>
          <p:nvPr>
            <p:ph type="ctrTitle"/>
          </p:nvPr>
        </p:nvSpPr>
        <p:spPr/>
        <p:txBody>
          <a:bodyPr>
            <a:normAutofit fontScale="90000"/>
          </a:bodyPr>
          <a:lstStyle/>
          <a:p>
            <a:r>
              <a:rPr lang="en-US" sz="6700" b="1" dirty="0"/>
              <a:t>Project Title</a:t>
            </a:r>
            <a:br>
              <a:rPr lang="en-US" dirty="0"/>
            </a:br>
            <a:r>
              <a:rPr lang="en-US" dirty="0"/>
              <a:t>Telco Customer Churn Analysis</a:t>
            </a:r>
            <a:br>
              <a:rPr lang="en-US" dirty="0"/>
            </a:br>
            <a:endParaRPr lang="en-US" dirty="0"/>
          </a:p>
        </p:txBody>
      </p:sp>
      <p:sp>
        <p:nvSpPr>
          <p:cNvPr id="3" name="Subtitle 2">
            <a:extLst>
              <a:ext uri="{FF2B5EF4-FFF2-40B4-BE49-F238E27FC236}">
                <a16:creationId xmlns:a16="http://schemas.microsoft.com/office/drawing/2014/main" id="{09F90DFD-491E-4960-9032-BDF088E756BF}"/>
              </a:ext>
            </a:extLst>
          </p:cNvPr>
          <p:cNvSpPr>
            <a:spLocks noGrp="1"/>
          </p:cNvSpPr>
          <p:nvPr>
            <p:ph type="subTitle" idx="1"/>
          </p:nvPr>
        </p:nvSpPr>
        <p:spPr>
          <a:xfrm>
            <a:off x="1524000" y="3093154"/>
            <a:ext cx="9144000" cy="2387599"/>
          </a:xfrm>
        </p:spPr>
        <p:txBody>
          <a:bodyPr>
            <a:normAutofit fontScale="25000" lnSpcReduction="20000"/>
          </a:bodyPr>
          <a:lstStyle/>
          <a:p>
            <a:r>
              <a:rPr lang="en-US" sz="8800" b="1" dirty="0"/>
              <a:t>Prepared By </a:t>
            </a:r>
          </a:p>
          <a:p>
            <a:r>
              <a:rPr lang="en-US" sz="8800" dirty="0"/>
              <a:t>Sulaimon </a:t>
            </a:r>
            <a:r>
              <a:rPr lang="en-US" sz="8800" dirty="0" err="1"/>
              <a:t>Fathiat</a:t>
            </a:r>
            <a:r>
              <a:rPr lang="en-US" sz="8800" dirty="0"/>
              <a:t> Adeola</a:t>
            </a:r>
          </a:p>
          <a:p>
            <a:r>
              <a:rPr lang="en-US" sz="8800" b="1" dirty="0"/>
              <a:t>Tool Used</a:t>
            </a:r>
          </a:p>
          <a:p>
            <a:r>
              <a:rPr lang="en-US" sz="8800" dirty="0"/>
              <a:t>Microsoft Power BI</a:t>
            </a:r>
          </a:p>
          <a:p>
            <a:r>
              <a:rPr lang="en-US" sz="8800" b="1" dirty="0"/>
              <a:t>Dataset</a:t>
            </a:r>
          </a:p>
          <a:p>
            <a:r>
              <a:rPr lang="en-US" sz="8800" i="1" dirty="0"/>
              <a:t>Telco Customer Analysis</a:t>
            </a:r>
          </a:p>
          <a:p>
            <a:endParaRPr lang="en-US" dirty="0"/>
          </a:p>
        </p:txBody>
      </p:sp>
    </p:spTree>
    <p:extLst>
      <p:ext uri="{BB962C8B-B14F-4D97-AF65-F5344CB8AC3E}">
        <p14:creationId xmlns:p14="http://schemas.microsoft.com/office/powerpoint/2010/main" val="249285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8FFB8-DFE9-4662-8AD0-8CEAFCCAC255}"/>
              </a:ext>
            </a:extLst>
          </p:cNvPr>
          <p:cNvSpPr>
            <a:spLocks noGrp="1"/>
          </p:cNvSpPr>
          <p:nvPr>
            <p:ph type="title"/>
          </p:nvPr>
        </p:nvSpPr>
        <p:spPr/>
        <p:txBody>
          <a:bodyPr/>
          <a:lstStyle/>
          <a:p>
            <a:r>
              <a:rPr lang="en-US" dirty="0"/>
              <a:t>Business Problem Statement</a:t>
            </a:r>
            <a:br>
              <a:rPr lang="en-US" dirty="0"/>
            </a:br>
            <a:endParaRPr lang="en-US" dirty="0"/>
          </a:p>
        </p:txBody>
      </p:sp>
      <p:sp>
        <p:nvSpPr>
          <p:cNvPr id="3" name="Content Placeholder 2">
            <a:extLst>
              <a:ext uri="{FF2B5EF4-FFF2-40B4-BE49-F238E27FC236}">
                <a16:creationId xmlns:a16="http://schemas.microsoft.com/office/drawing/2014/main" id="{62A62E45-AA1C-46F9-8137-C21F54A4F8A5}"/>
              </a:ext>
            </a:extLst>
          </p:cNvPr>
          <p:cNvSpPr>
            <a:spLocks noGrp="1"/>
          </p:cNvSpPr>
          <p:nvPr>
            <p:ph idx="1"/>
          </p:nvPr>
        </p:nvSpPr>
        <p:spPr/>
        <p:txBody>
          <a:bodyPr/>
          <a:lstStyle/>
          <a:p>
            <a:r>
              <a:rPr lang="en-US" dirty="0"/>
              <a:t>The telecommunication company is experiencing customer churn, which affects revenue and business growth.</a:t>
            </a:r>
          </a:p>
          <a:p>
            <a:r>
              <a:rPr lang="en-US" dirty="0"/>
              <a:t>Objectives</a:t>
            </a:r>
          </a:p>
          <a:p>
            <a:r>
              <a:rPr lang="en-US" dirty="0"/>
              <a:t>Identify the factors that influence customer churn.</a:t>
            </a:r>
          </a:p>
          <a:p>
            <a:r>
              <a:rPr lang="en-US" dirty="0"/>
              <a:t>Analyze customer behavior.</a:t>
            </a:r>
          </a:p>
          <a:p>
            <a:r>
              <a:rPr lang="en-US" dirty="0"/>
              <a:t>Provide data-driven recommendations to improve customer retention.</a:t>
            </a:r>
          </a:p>
        </p:txBody>
      </p:sp>
    </p:spTree>
    <p:extLst>
      <p:ext uri="{BB962C8B-B14F-4D97-AF65-F5344CB8AC3E}">
        <p14:creationId xmlns:p14="http://schemas.microsoft.com/office/powerpoint/2010/main" val="258378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EC014-67FD-4767-9952-4F0316C13D35}"/>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9D6CF184-5C23-4B9C-81F5-F22364AEF8A4}"/>
              </a:ext>
            </a:extLst>
          </p:cNvPr>
          <p:cNvSpPr>
            <a:spLocks noGrp="1"/>
          </p:cNvSpPr>
          <p:nvPr>
            <p:ph idx="1"/>
          </p:nvPr>
        </p:nvSpPr>
        <p:spPr>
          <a:xfrm>
            <a:off x="838200" y="1518699"/>
            <a:ext cx="10515600" cy="5263764"/>
          </a:xfrm>
        </p:spPr>
        <p:txBody>
          <a:bodyPr>
            <a:normAutofit fontScale="92500" lnSpcReduction="20000"/>
          </a:bodyPr>
          <a:lstStyle/>
          <a:p>
            <a:r>
              <a:rPr lang="en-US" dirty="0"/>
              <a:t>Source: Kaggle-Telco Customer Churn Dataset.</a:t>
            </a:r>
          </a:p>
          <a:p>
            <a:r>
              <a:rPr lang="en-US" dirty="0"/>
              <a:t>Total Customers : 7,032</a:t>
            </a:r>
          </a:p>
          <a:p>
            <a:r>
              <a:rPr lang="en-US" dirty="0"/>
              <a:t>Columns: 21</a:t>
            </a:r>
          </a:p>
          <a:p>
            <a:r>
              <a:rPr lang="en-US" dirty="0"/>
              <a:t>Target Variable: Churn</a:t>
            </a:r>
          </a:p>
          <a:p>
            <a:r>
              <a:rPr lang="en-US" dirty="0"/>
              <a:t>Data Contains;</a:t>
            </a:r>
          </a:p>
          <a:p>
            <a:r>
              <a:rPr lang="en-US" dirty="0"/>
              <a:t>Customer demographics</a:t>
            </a:r>
          </a:p>
          <a:p>
            <a:r>
              <a:rPr lang="en-US" dirty="0"/>
              <a:t>Contract type</a:t>
            </a:r>
          </a:p>
          <a:p>
            <a:r>
              <a:rPr lang="en-US" dirty="0"/>
              <a:t>Internet service</a:t>
            </a:r>
          </a:p>
          <a:p>
            <a:r>
              <a:rPr lang="en-US" dirty="0"/>
              <a:t>Payment method</a:t>
            </a:r>
          </a:p>
          <a:p>
            <a:r>
              <a:rPr lang="en-US" dirty="0"/>
              <a:t>Churn status</a:t>
            </a:r>
          </a:p>
          <a:p>
            <a:r>
              <a:rPr lang="en-US" dirty="0"/>
              <a:t>Tenure</a:t>
            </a:r>
          </a:p>
          <a:p>
            <a:r>
              <a:rPr lang="en-US" dirty="0"/>
              <a:t>Monthly charges</a:t>
            </a:r>
          </a:p>
          <a:p>
            <a:endParaRPr lang="en-US" dirty="0"/>
          </a:p>
        </p:txBody>
      </p:sp>
    </p:spTree>
    <p:extLst>
      <p:ext uri="{BB962C8B-B14F-4D97-AF65-F5344CB8AC3E}">
        <p14:creationId xmlns:p14="http://schemas.microsoft.com/office/powerpoint/2010/main" val="241830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D39BF-14D3-4AA7-8D3E-B6105FA34750}"/>
              </a:ext>
            </a:extLst>
          </p:cNvPr>
          <p:cNvSpPr>
            <a:spLocks noGrp="1"/>
          </p:cNvSpPr>
          <p:nvPr>
            <p:ph type="title"/>
          </p:nvPr>
        </p:nvSpPr>
        <p:spPr/>
        <p:txBody>
          <a:bodyPr/>
          <a:lstStyle/>
          <a:p>
            <a:r>
              <a:rPr lang="en-US" dirty="0"/>
              <a:t>Dashboard</a:t>
            </a:r>
          </a:p>
        </p:txBody>
      </p:sp>
      <p:pic>
        <p:nvPicPr>
          <p:cNvPr id="5" name="Content Placeholder 4">
            <a:extLst>
              <a:ext uri="{FF2B5EF4-FFF2-40B4-BE49-F238E27FC236}">
                <a16:creationId xmlns:a16="http://schemas.microsoft.com/office/drawing/2014/main" id="{97E9C371-7BDD-4F62-A32E-2D9DE4C336FE}"/>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tretch/>
        </p:blipFill>
        <p:spPr>
          <a:xfrm>
            <a:off x="838200" y="2504299"/>
            <a:ext cx="5181600" cy="2993990"/>
          </a:xfrm>
        </p:spPr>
      </p:pic>
      <p:sp>
        <p:nvSpPr>
          <p:cNvPr id="7" name="Content Placeholder 6">
            <a:extLst>
              <a:ext uri="{FF2B5EF4-FFF2-40B4-BE49-F238E27FC236}">
                <a16:creationId xmlns:a16="http://schemas.microsoft.com/office/drawing/2014/main" id="{0162475F-FD22-43EA-96D3-F446AE74FD78}"/>
              </a:ext>
            </a:extLst>
          </p:cNvPr>
          <p:cNvSpPr>
            <a:spLocks noGrp="1"/>
          </p:cNvSpPr>
          <p:nvPr>
            <p:ph sz="half" idx="2"/>
          </p:nvPr>
        </p:nvSpPr>
        <p:spPr/>
        <p:txBody>
          <a:bodyPr>
            <a:normAutofit lnSpcReduction="10000"/>
          </a:bodyPr>
          <a:lstStyle/>
          <a:p>
            <a:r>
              <a:rPr lang="en-US" dirty="0"/>
              <a:t>Dashboard includes;</a:t>
            </a:r>
          </a:p>
          <a:p>
            <a:r>
              <a:rPr lang="en-US" dirty="0"/>
              <a:t>KPIs Cards</a:t>
            </a:r>
          </a:p>
          <a:p>
            <a:r>
              <a:rPr lang="en-US" dirty="0"/>
              <a:t>Churn Distribution</a:t>
            </a:r>
          </a:p>
          <a:p>
            <a:r>
              <a:rPr lang="en-US" dirty="0"/>
              <a:t>Churn by Contract Type</a:t>
            </a:r>
          </a:p>
          <a:p>
            <a:r>
              <a:rPr lang="en-US" dirty="0"/>
              <a:t>Churn by Payment Method</a:t>
            </a:r>
          </a:p>
          <a:p>
            <a:r>
              <a:rPr lang="en-US" dirty="0"/>
              <a:t>Churn by Tech Support</a:t>
            </a:r>
          </a:p>
          <a:p>
            <a:r>
              <a:rPr lang="en-US" dirty="0"/>
              <a:t>Churn by Tenure</a:t>
            </a:r>
          </a:p>
          <a:p>
            <a:r>
              <a:rPr lang="en-US" dirty="0"/>
              <a:t>Monthly Charges vs Churn</a:t>
            </a:r>
          </a:p>
          <a:p>
            <a:r>
              <a:rPr lang="en-US" dirty="0"/>
              <a:t>Slicers</a:t>
            </a:r>
          </a:p>
          <a:p>
            <a:endParaRPr lang="en-US" dirty="0"/>
          </a:p>
        </p:txBody>
      </p:sp>
    </p:spTree>
    <p:extLst>
      <p:ext uri="{BB962C8B-B14F-4D97-AF65-F5344CB8AC3E}">
        <p14:creationId xmlns:p14="http://schemas.microsoft.com/office/powerpoint/2010/main" val="1740047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252AD7-BB8F-4915-A166-E7500477DCC8}"/>
              </a:ext>
            </a:extLst>
          </p:cNvPr>
          <p:cNvSpPr>
            <a:spLocks noGrp="1"/>
          </p:cNvSpPr>
          <p:nvPr>
            <p:ph type="title"/>
          </p:nvPr>
        </p:nvSpPr>
        <p:spPr/>
        <p:txBody>
          <a:bodyPr/>
          <a:lstStyle/>
          <a:p>
            <a:r>
              <a:rPr lang="en-US" dirty="0"/>
              <a:t>Major Findings</a:t>
            </a:r>
          </a:p>
        </p:txBody>
      </p:sp>
      <p:sp>
        <p:nvSpPr>
          <p:cNvPr id="6" name="Content Placeholder 5">
            <a:extLst>
              <a:ext uri="{FF2B5EF4-FFF2-40B4-BE49-F238E27FC236}">
                <a16:creationId xmlns:a16="http://schemas.microsoft.com/office/drawing/2014/main" id="{DB6C9607-E8C6-4C8C-87FE-CC1C95244E6F}"/>
              </a:ext>
            </a:extLst>
          </p:cNvPr>
          <p:cNvSpPr>
            <a:spLocks noGrp="1"/>
          </p:cNvSpPr>
          <p:nvPr>
            <p:ph idx="1"/>
          </p:nvPr>
        </p:nvSpPr>
        <p:spPr/>
        <p:txBody>
          <a:bodyPr/>
          <a:lstStyle/>
          <a:p>
            <a:r>
              <a:rPr lang="en-US" dirty="0"/>
              <a:t>Churn rate is 26.58%</a:t>
            </a:r>
          </a:p>
          <a:p>
            <a:r>
              <a:rPr lang="en-US" dirty="0"/>
              <a:t>Month-to-Month contract customers have the highest churn.</a:t>
            </a:r>
          </a:p>
          <a:p>
            <a:r>
              <a:rPr lang="en-US" dirty="0"/>
              <a:t>Customers without tech support churn more frequently.</a:t>
            </a:r>
          </a:p>
          <a:p>
            <a:r>
              <a:rPr lang="en-US" dirty="0"/>
              <a:t>Electronic check users have the highest churn.</a:t>
            </a:r>
          </a:p>
          <a:p>
            <a:r>
              <a:rPr lang="en-US" dirty="0"/>
              <a:t>Customers with higher monthly charges are most likely to churn.</a:t>
            </a:r>
          </a:p>
          <a:p>
            <a:r>
              <a:rPr lang="en-US" dirty="0"/>
              <a:t>Customers in their first year are more likely to leave.</a:t>
            </a:r>
          </a:p>
        </p:txBody>
      </p:sp>
    </p:spTree>
    <p:extLst>
      <p:ext uri="{BB962C8B-B14F-4D97-AF65-F5344CB8AC3E}">
        <p14:creationId xmlns:p14="http://schemas.microsoft.com/office/powerpoint/2010/main" val="320566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BBF23-5AF8-4F21-9EB0-4D72150136E8}"/>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52DA99C5-D4B5-4156-820F-C28865EC93DB}"/>
              </a:ext>
            </a:extLst>
          </p:cNvPr>
          <p:cNvSpPr>
            <a:spLocks noGrp="1"/>
          </p:cNvSpPr>
          <p:nvPr>
            <p:ph idx="1"/>
          </p:nvPr>
        </p:nvSpPr>
        <p:spPr/>
        <p:txBody>
          <a:bodyPr/>
          <a:lstStyle/>
          <a:p>
            <a:r>
              <a:rPr lang="en-US" dirty="0"/>
              <a:t>Encourage customers to switch to longer-term contracts.</a:t>
            </a:r>
          </a:p>
          <a:p>
            <a:r>
              <a:rPr lang="en-US" dirty="0"/>
              <a:t>Improve technical support services.</a:t>
            </a:r>
          </a:p>
          <a:p>
            <a:r>
              <a:rPr lang="en-US" dirty="0"/>
              <a:t>Introduce retention campaigns for new customers.</a:t>
            </a:r>
          </a:p>
          <a:p>
            <a:r>
              <a:rPr lang="en-US" dirty="0"/>
              <a:t>Review pricing strategies for customers with high monthly charges.</a:t>
            </a:r>
          </a:p>
          <a:p>
            <a:r>
              <a:rPr lang="en-US" dirty="0"/>
              <a:t>Investigate why electronic check users have higher churn and improve the payment experience.</a:t>
            </a:r>
          </a:p>
        </p:txBody>
      </p:sp>
    </p:spTree>
    <p:extLst>
      <p:ext uri="{BB962C8B-B14F-4D97-AF65-F5344CB8AC3E}">
        <p14:creationId xmlns:p14="http://schemas.microsoft.com/office/powerpoint/2010/main" val="3802417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7D54-1B72-4C32-862F-CCE1CE8E947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39439CE-F349-4543-89C2-D7023BCFC799}"/>
              </a:ext>
            </a:extLst>
          </p:cNvPr>
          <p:cNvSpPr>
            <a:spLocks noGrp="1"/>
          </p:cNvSpPr>
          <p:nvPr>
            <p:ph idx="1"/>
          </p:nvPr>
        </p:nvSpPr>
        <p:spPr/>
        <p:txBody>
          <a:bodyPr/>
          <a:lstStyle/>
          <a:p>
            <a:r>
              <a:rPr lang="en-US" dirty="0"/>
              <a:t>This analysis identified the major factors driving customer churn, including contract type, tenure, monthly charges, payment support and tech support. By implementing targeted retention strategies based on these findings, the company can reduce customer churn, improve customer satisfaction, and support long-term business growth.</a:t>
            </a:r>
          </a:p>
          <a:p>
            <a:r>
              <a:rPr lang="en-US" dirty="0"/>
              <a:t>Thank You</a:t>
            </a:r>
          </a:p>
        </p:txBody>
      </p:sp>
    </p:spTree>
    <p:extLst>
      <p:ext uri="{BB962C8B-B14F-4D97-AF65-F5344CB8AC3E}">
        <p14:creationId xmlns:p14="http://schemas.microsoft.com/office/powerpoint/2010/main" val="4045922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Project Title Telco Customer Churn Analysis </vt:lpstr>
      <vt:lpstr>Business Problem Statement </vt:lpstr>
      <vt:lpstr>Dataset Overview</vt:lpstr>
      <vt:lpstr>Dashboard</vt:lpstr>
      <vt:lpstr>Major Findings</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Telco Customer Churn Analysis </dc:title>
  <dc:creator>fathiatsulaimon@gmail.com</dc:creator>
  <cp:lastModifiedBy>fathiatsulaimon@gmail.com</cp:lastModifiedBy>
  <cp:revision>1</cp:revision>
  <dcterms:created xsi:type="dcterms:W3CDTF">2026-06-30T18:33:52Z</dcterms:created>
  <dcterms:modified xsi:type="dcterms:W3CDTF">2026-06-30T18:34:14Z</dcterms:modified>
</cp:coreProperties>
</file>